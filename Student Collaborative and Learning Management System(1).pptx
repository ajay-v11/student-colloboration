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FA96C17-362F-4579-B2EE-547D74F6B697}">
          <p14:sldIdLst>
            <p14:sldId id="256"/>
            <p14:sldId id="257"/>
            <p14:sldId id="258"/>
            <p14:sldId id="259"/>
            <p14:sldId id="260"/>
            <p14:sldId id="262"/>
            <p14:sldId id="26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jay Vardhan" initials="VV" lastIdx="1" clrIdx="0">
    <p:extLst>
      <p:ext uri="{19B8F6BF-5375-455C-9EA6-DF929625EA0E}">
        <p15:presenceInfo xmlns:p15="http://schemas.microsoft.com/office/powerpoint/2012/main" userId="0e35b8d52176e1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1/18/2026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1/18/2026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1/18/2026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1/18/2026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D4A48-FD90-AD02-B4FF-0B6848197883}"/>
              </a:ext>
            </a:extLst>
          </p:cNvPr>
          <p:cNvSpPr>
            <a:spLocks noGrp="1"/>
          </p:cNvSpPr>
          <p:nvPr>
            <p:ph type="ctrTitle"/>
          </p:nvPr>
        </p:nvSpPr>
        <p:spPr>
          <a:xfrm>
            <a:off x="1291472" y="618906"/>
            <a:ext cx="9737889" cy="2358839"/>
          </a:xfrm>
        </p:spPr>
        <p:txBody>
          <a:bodyPr/>
          <a:lstStyle/>
          <a:p>
            <a:r>
              <a:rPr lang="en-US" dirty="0">
                <a:latin typeface="Times New Roman" panose="02020603050405020304" pitchFamily="18" charset="0"/>
                <a:cs typeface="Times New Roman" panose="02020603050405020304" pitchFamily="18" charset="0"/>
              </a:rPr>
              <a:t>Student Collaborative and Learning Management System </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91B5376B-8BB8-6BEE-D272-3D9C2B0C86F3}"/>
              </a:ext>
            </a:extLst>
          </p:cNvPr>
          <p:cNvSpPr>
            <a:spLocks noGrp="1"/>
          </p:cNvSpPr>
          <p:nvPr>
            <p:ph type="subTitle" idx="1"/>
          </p:nvPr>
        </p:nvSpPr>
        <p:spPr/>
        <p:txBody>
          <a:bodyPr>
            <a:normAutofit lnSpcReduction="10000"/>
          </a:bodyPr>
          <a:lstStyle/>
          <a:p>
            <a:pPr algn="just"/>
            <a:r>
              <a:rPr lang="en-IN" b="1" dirty="0"/>
              <a:t> </a:t>
            </a:r>
          </a:p>
          <a:p>
            <a:pPr algn="just"/>
            <a:endParaRPr lang="en-IN" b="1" dirty="0"/>
          </a:p>
          <a:p>
            <a:pPr algn="just"/>
            <a:r>
              <a:rPr lang="en-IN" b="1" dirty="0"/>
              <a:t>                                                                                                          </a:t>
            </a:r>
            <a:endParaRPr lang="en-IN" dirty="0"/>
          </a:p>
        </p:txBody>
      </p:sp>
      <p:sp>
        <p:nvSpPr>
          <p:cNvPr id="5" name="TextBox 4">
            <a:extLst>
              <a:ext uri="{FF2B5EF4-FFF2-40B4-BE49-F238E27FC236}">
                <a16:creationId xmlns:a16="http://schemas.microsoft.com/office/drawing/2014/main" id="{5E89CDF2-F090-1E6A-AFE9-5D209E2345F9}"/>
              </a:ext>
            </a:extLst>
          </p:cNvPr>
          <p:cNvSpPr txBox="1"/>
          <p:nvPr/>
        </p:nvSpPr>
        <p:spPr>
          <a:xfrm>
            <a:off x="2240437" y="3148422"/>
            <a:ext cx="7711126" cy="2092881"/>
          </a:xfrm>
          <a:prstGeom prst="rect">
            <a:avLst/>
          </a:prstGeom>
          <a:noFill/>
        </p:spPr>
        <p:txBody>
          <a:bodyPr wrap="square" rtlCol="0">
            <a:spAutoFit/>
          </a:bodyPr>
          <a:lstStyle/>
          <a:p>
            <a:r>
              <a:rPr lang="en-US" dirty="0"/>
              <a:t>                                              </a:t>
            </a:r>
            <a:r>
              <a:rPr lang="en-US" sz="2800" dirty="0">
                <a:latin typeface="Times New Roman" panose="02020603050405020304" pitchFamily="18" charset="0"/>
                <a:cs typeface="Times New Roman" panose="02020603050405020304" pitchFamily="18" charset="0"/>
              </a:rPr>
              <a:t>REVIEW – 1</a:t>
            </a:r>
          </a:p>
          <a:p>
            <a:endParaRPr lang="en-US" sz="2800" dirty="0">
              <a:latin typeface="Times New Roman" panose="02020603050405020304" pitchFamily="18" charset="0"/>
              <a:cs typeface="Times New Roman" panose="02020603050405020304" pitchFamily="18" charset="0"/>
            </a:endParaRPr>
          </a:p>
          <a:p>
            <a:r>
              <a:rPr lang="en-IN" sz="2800" dirty="0">
                <a:latin typeface="Times New Roman" panose="02020603050405020304" pitchFamily="18" charset="0"/>
                <a:cs typeface="Times New Roman" panose="02020603050405020304" pitchFamily="18" charset="0"/>
              </a:rPr>
              <a:t>          Requirement Analysis Document (RAD) &amp; </a:t>
            </a:r>
          </a:p>
          <a:p>
            <a:r>
              <a:rPr lang="en-IN" sz="2800" dirty="0">
                <a:latin typeface="Times New Roman" panose="02020603050405020304" pitchFamily="18" charset="0"/>
                <a:cs typeface="Times New Roman" panose="02020603050405020304" pitchFamily="18" charset="0"/>
              </a:rPr>
              <a:t>                     System Design Document</a:t>
            </a:r>
          </a:p>
          <a:p>
            <a:endParaRPr lang="en-IN" dirty="0"/>
          </a:p>
        </p:txBody>
      </p:sp>
      <p:sp>
        <p:nvSpPr>
          <p:cNvPr id="6" name="TextBox 5">
            <a:extLst>
              <a:ext uri="{FF2B5EF4-FFF2-40B4-BE49-F238E27FC236}">
                <a16:creationId xmlns:a16="http://schemas.microsoft.com/office/drawing/2014/main" id="{3199BB38-C5F5-C61C-80FC-64B772169D29}"/>
              </a:ext>
            </a:extLst>
          </p:cNvPr>
          <p:cNvSpPr txBox="1"/>
          <p:nvPr/>
        </p:nvSpPr>
        <p:spPr>
          <a:xfrm>
            <a:off x="141402" y="5411980"/>
            <a:ext cx="2553792" cy="1292662"/>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Project Guide</a:t>
            </a:r>
          </a:p>
          <a:p>
            <a:r>
              <a:rPr lang="en-IN" sz="2000" dirty="0">
                <a:latin typeface="Times New Roman" panose="02020603050405020304" pitchFamily="18" charset="0"/>
                <a:cs typeface="Times New Roman" panose="02020603050405020304" pitchFamily="18" charset="0"/>
              </a:rPr>
              <a:t>Mr. G. Ramesh Naidu</a:t>
            </a:r>
          </a:p>
          <a:p>
            <a:r>
              <a:rPr lang="en-IN" sz="2000" dirty="0">
                <a:latin typeface="Times New Roman" panose="02020603050405020304" pitchFamily="18" charset="0"/>
                <a:cs typeface="Times New Roman" panose="02020603050405020304" pitchFamily="18" charset="0"/>
              </a:rPr>
              <a:t>Assistant Professor</a:t>
            </a:r>
          </a:p>
          <a:p>
            <a:endParaRPr lang="en-IN" dirty="0"/>
          </a:p>
        </p:txBody>
      </p:sp>
      <p:sp>
        <p:nvSpPr>
          <p:cNvPr id="7" name="TextBox 6">
            <a:extLst>
              <a:ext uri="{FF2B5EF4-FFF2-40B4-BE49-F238E27FC236}">
                <a16:creationId xmlns:a16="http://schemas.microsoft.com/office/drawing/2014/main" id="{7C4C5201-6F42-6054-8E5F-32BA63AEC3CB}"/>
              </a:ext>
            </a:extLst>
          </p:cNvPr>
          <p:cNvSpPr txBox="1"/>
          <p:nvPr/>
        </p:nvSpPr>
        <p:spPr>
          <a:xfrm>
            <a:off x="9716329" y="5189307"/>
            <a:ext cx="2626064" cy="1600438"/>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Student Name</a:t>
            </a:r>
          </a:p>
          <a:p>
            <a:r>
              <a:rPr lang="en-IN" sz="2000" dirty="0">
                <a:latin typeface="Times New Roman" panose="02020603050405020304" pitchFamily="18" charset="0"/>
                <a:cs typeface="Times New Roman" panose="02020603050405020304" pitchFamily="18" charset="0"/>
              </a:rPr>
              <a:t>K. Mahitha Komali</a:t>
            </a:r>
          </a:p>
          <a:p>
            <a:r>
              <a:rPr lang="en-IN" sz="2000" dirty="0">
                <a:latin typeface="Times New Roman" panose="02020603050405020304" pitchFamily="18" charset="0"/>
                <a:cs typeface="Times New Roman" panose="02020603050405020304" pitchFamily="18" charset="0"/>
              </a:rPr>
              <a:t>Roll No: 2023002185</a:t>
            </a:r>
          </a:p>
          <a:p>
            <a:r>
              <a:rPr lang="en-IN" sz="2000" dirty="0">
                <a:latin typeface="Times New Roman" panose="02020603050405020304" pitchFamily="18" charset="0"/>
                <a:cs typeface="Times New Roman" panose="02020603050405020304" pitchFamily="18" charset="0"/>
              </a:rPr>
              <a:t>BCA VI Semester</a:t>
            </a:r>
          </a:p>
          <a:p>
            <a:endParaRPr lang="en-IN" dirty="0"/>
          </a:p>
        </p:txBody>
      </p:sp>
    </p:spTree>
    <p:extLst>
      <p:ext uri="{BB962C8B-B14F-4D97-AF65-F5344CB8AC3E}">
        <p14:creationId xmlns:p14="http://schemas.microsoft.com/office/powerpoint/2010/main" val="3634755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1E466485-DE71-53B7-6F3B-AE053E658802}"/>
              </a:ext>
            </a:extLst>
          </p:cNvPr>
          <p:cNvSpPr txBox="1"/>
          <p:nvPr/>
        </p:nvSpPr>
        <p:spPr>
          <a:xfrm>
            <a:off x="175967" y="892589"/>
            <a:ext cx="11701806" cy="4770537"/>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Introduction</a:t>
            </a:r>
          </a:p>
          <a:p>
            <a:pPr algn="just"/>
            <a:endParaRPr lang="en-US" sz="24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Student Collaborative and Learning Management System is a web-based application developed to support effective peer learning and academic collaboration among students. It provides a centralized platform where students can create study groups, collaborate on academic projects, and share learning resources and academic opportunities in an organized manner</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Purpose of the System</a:t>
            </a:r>
          </a:p>
          <a:p>
            <a:pPr algn="just"/>
            <a:endParaRPr lang="en-US" sz="24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purpose of this system is to support organized and efficient academic collaboration in educational institutions. It was developed to meet the growing need for a reliable platform as academic workloads and group activities increase. By offering a secure and institution-focused solution, the system helps improve communication, teamwork, and achievement of academic goals.</a:t>
            </a:r>
            <a:endParaRPr lang="en-US" sz="20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3042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A135E28-1DC5-F8EF-0DDF-331F30559217}"/>
              </a:ext>
            </a:extLst>
          </p:cNvPr>
          <p:cNvSpPr txBox="1"/>
          <p:nvPr/>
        </p:nvSpPr>
        <p:spPr>
          <a:xfrm>
            <a:off x="246668" y="274290"/>
            <a:ext cx="11698663" cy="6309420"/>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Scope of the System</a:t>
            </a:r>
          </a:p>
          <a:p>
            <a:pPr algn="just"/>
            <a:endParaRPr lang="en-US" sz="24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scope of the Student Collaborative and Learning Management System includes secure student registration and authentication, creation and management of study groups, project collaboration features, group discussions, and sharing of internship-related information. The system is designed for use within academic institutions and supports real-time interaction and efficient group management.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Objectives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improve peer learning through collaborative study groups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strengthen teamwork and academic interaction among students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simplify project collaboration and information sharing</a:t>
            </a:r>
          </a:p>
          <a:p>
            <a:pPr algn="just"/>
            <a:endParaRPr lang="en-IN"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Success Criteria of the Project</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Active participation of students on the platform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Secure handling of user data and authentication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Effective communication and collaboration among users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76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F558934-2A06-4284-9979-958AE3CC427E}"/>
              </a:ext>
            </a:extLst>
          </p:cNvPr>
          <p:cNvSpPr txBox="1"/>
          <p:nvPr/>
        </p:nvSpPr>
        <p:spPr>
          <a:xfrm>
            <a:off x="124119" y="263950"/>
            <a:ext cx="11717517" cy="7817525"/>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Current System</a:t>
            </a:r>
          </a:p>
          <a:p>
            <a:pPr algn="just"/>
            <a:endParaRPr lang="en-US" sz="24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 the existing approach, students rely on informal methods such as social media platforms, messaging applications, and personal contacts for academic collaboration. These methods lack structure, proper organization, and academic alignment, making it difficult to form suitable study groups, manage projects efficiently, and ensure equal access to academic opportunities.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Proposed System</a:t>
            </a:r>
          </a:p>
          <a:p>
            <a:pPr algn="just"/>
            <a:endParaRPr lang="en-US" sz="24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proposed system is a centralized web-based platform that enables students to collaborate in a structured and organized manner. It provides secure access, study group management, project collaboration tools, discussion forums, and mechanisms for sharing internship-related information. The system ensures real-time interaction and improved coordination among students within an academic environment.</a:t>
            </a:r>
          </a:p>
          <a:p>
            <a:pPr algn="just"/>
            <a:endParaRPr lang="en-US" sz="24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Advantages of the Proposed System</a:t>
            </a:r>
          </a:p>
          <a:p>
            <a:pPr algn="just"/>
            <a:endParaRPr lang="en-US"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Scalability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Security</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Collaboration</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1567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E352A8-5B4A-FD88-B69D-51E7346D4BAB}"/>
              </a:ext>
            </a:extLst>
          </p:cNvPr>
          <p:cNvSpPr txBox="1"/>
          <p:nvPr/>
        </p:nvSpPr>
        <p:spPr>
          <a:xfrm>
            <a:off x="200319" y="292231"/>
            <a:ext cx="11791361" cy="6955750"/>
          </a:xfrm>
          <a:prstGeom prst="rect">
            <a:avLst/>
          </a:prstGeom>
          <a:noFill/>
        </p:spPr>
        <p:txBody>
          <a:bodyPr wrap="square" rtlCol="0">
            <a:spAutoFit/>
          </a:bodyPr>
          <a:lstStyle/>
          <a:p>
            <a:pPr algn="just"/>
            <a:r>
              <a:rPr lang="en-US" sz="2400" b="1" dirty="0">
                <a:latin typeface="Times New Roman" panose="02020603050405020304" pitchFamily="18" charset="0"/>
                <a:cs typeface="Times New Roman" panose="02020603050405020304" pitchFamily="18" charset="0"/>
              </a:rPr>
              <a:t>Functional Requirements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shall allow students to register and log in securely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shall enable students to create, search, and join study groups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shall support project idea sharing and collaboration</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shall provide group discussion and communication features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shall allow students to share internship and academic opportunities</a:t>
            </a:r>
          </a:p>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Student registration details (name, email, department, etc.)</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Login credentials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Study group and project information</a:t>
            </a:r>
          </a:p>
          <a:p>
            <a:pPr algn="just"/>
            <a:endParaRPr lang="en-US" sz="20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User dashboards after successful login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Lists of available study groups and projects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Display of internship and academic opportunity details</a:t>
            </a:r>
          </a:p>
          <a:p>
            <a:pPr algn="just"/>
            <a:endParaRPr lang="en-US" sz="2000" dirty="0">
              <a:latin typeface="Times New Roman" panose="02020603050405020304" pitchFamily="18" charset="0"/>
              <a:cs typeface="Times New Roman" panose="02020603050405020304" pitchFamily="18" charset="0"/>
            </a:endParaRPr>
          </a:p>
          <a:p>
            <a:pPr algn="just"/>
            <a:r>
              <a:rPr lang="en-US" sz="2400" b="1" dirty="0">
                <a:latin typeface="Times New Roman" panose="02020603050405020304" pitchFamily="18" charset="0"/>
                <a:cs typeface="Times New Roman" panose="02020603050405020304" pitchFamily="18" charset="0"/>
              </a:rPr>
              <a:t>Non-Functional Requirements</a:t>
            </a:r>
          </a:p>
          <a:p>
            <a:pPr marL="342900" indent="-342900" algn="just">
              <a:buFont typeface="Arial" panose="020B0604020202020204" pitchFamily="34" charset="0"/>
              <a:buChar char="•"/>
            </a:pPr>
            <a:r>
              <a:rPr lang="en-IN" sz="2000" dirty="0"/>
              <a:t>Usability</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t>Security</a:t>
            </a: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t>Reliability</a:t>
            </a:r>
          </a:p>
          <a:p>
            <a:pPr marL="342900" indent="-342900" algn="just">
              <a:buFont typeface="Arial" panose="020B0604020202020204" pitchFamily="34" charset="0"/>
              <a:buChar char="•"/>
            </a:pPr>
            <a:r>
              <a:rPr lang="en-IN" sz="2000" dirty="0"/>
              <a:t>Availability</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96043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44B4DEA-5257-3494-5725-D23E7C89F0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145" t="4660" r="4088" b="3690"/>
          <a:stretch>
            <a:fillRect/>
          </a:stretch>
        </p:blipFill>
        <p:spPr bwMode="auto">
          <a:xfrm>
            <a:off x="2630079" y="895546"/>
            <a:ext cx="6438507" cy="578805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30645A5-019F-09C2-E4EF-120BA3DBAD76}"/>
              </a:ext>
            </a:extLst>
          </p:cNvPr>
          <p:cNvSpPr txBox="1"/>
          <p:nvPr/>
        </p:nvSpPr>
        <p:spPr>
          <a:xfrm>
            <a:off x="226243" y="273377"/>
            <a:ext cx="7899662" cy="584775"/>
          </a:xfrm>
          <a:prstGeom prst="rect">
            <a:avLst/>
          </a:prstGeom>
          <a:noFill/>
        </p:spPr>
        <p:txBody>
          <a:bodyPr wrap="square" rtlCol="0">
            <a:spAutoFit/>
          </a:bodyPr>
          <a:lstStyle/>
          <a:p>
            <a:r>
              <a:rPr lang="en-US" sz="3200" dirty="0" err="1">
                <a:latin typeface="Times New Roman" panose="02020603050405020304" pitchFamily="18" charset="0"/>
                <a:cs typeface="Times New Roman" panose="02020603050405020304" pitchFamily="18" charset="0"/>
              </a:rPr>
              <a:t>Usecase</a:t>
            </a:r>
            <a:r>
              <a:rPr lang="en-US" sz="3200" dirty="0">
                <a:latin typeface="Times New Roman" panose="02020603050405020304" pitchFamily="18" charset="0"/>
                <a:cs typeface="Times New Roman" panose="02020603050405020304" pitchFamily="18" charset="0"/>
              </a:rPr>
              <a:t> Model</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724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06814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476</TotalTime>
  <Words>505</Words>
  <Application>Microsoft Office PowerPoint</Application>
  <PresentationFormat>Widescreen</PresentationFormat>
  <Paragraphs>73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Gill Sans MT</vt:lpstr>
      <vt:lpstr>Times New Roman</vt:lpstr>
      <vt:lpstr>Parcel</vt:lpstr>
      <vt:lpstr>Student Collaborative and Learning Management System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Vijay Vardhan</dc:creator>
  <cp:lastModifiedBy>Vijay Vardhan</cp:lastModifiedBy>
  <cp:revision>2</cp:revision>
  <dcterms:created xsi:type="dcterms:W3CDTF">2026-01-06T06:13:16Z</dcterms:created>
  <dcterms:modified xsi:type="dcterms:W3CDTF">2026-01-18T10:24:14Z</dcterms:modified>
</cp:coreProperties>
</file>